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6" r:id="rId4"/>
    <p:sldId id="258" r:id="rId5"/>
    <p:sldId id="259" r:id="rId6"/>
    <p:sldId id="265" r:id="rId7"/>
    <p:sldId id="260" r:id="rId8"/>
    <p:sldId id="264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979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desafío, el equipo y el lema. Contextualizar Hub Providencia y Municipalidad.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contexto del edificio, el vacío de datos y la pregunta orientadora que guía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7A2B-B1BC-41A8-7BCD-4095F87DA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B5A47-AAD1-F53D-B3E8-6B353F46B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BE12F-760D-E096-FD3C-A5E073034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el lema del equipo y agradecer a la Municipalidad de Providencia y al Hub por la oportunidad.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B60F7-57F5-6B81-5551-A429E5B18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15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mapa conceptual: problema central, causas, consecuencias, conceptos clave y actores involucrados.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investigamos desde la perspectiva del equipo de gestión y operación del Hub, y recorrer los 4 cuadrantes del mapa de empatía.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2F8A-15D2-1DAC-C8C7-9BAF87CC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51AD9-B1E0-D66E-97F8-FC3B501E5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4A831-2818-3A0A-E17F-3E0D979B0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tres supuestos prioritarios que necesitamos validar con usuarios reales y cómo los vamos a validar.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6DFF2-00D2-6AFC-54C1-876E56094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67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tres supuestos prioritarios que necesitamos validar con usuarios reales y cómo los vamos a validar.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el lema del equipo y agradecer a la Municipalidad de Providencia y al Hub por la oportunidad.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86262" y="-1693070"/>
            <a:ext cx="5539740" cy="5766309"/>
          </a:xfrm>
          <a:prstGeom prst="ellipse">
            <a:avLst/>
          </a:prstGeom>
          <a:gradFill rotWithShape="1">
            <a:gsLst>
              <a:gs pos="0">
                <a:srgbClr val="C1963C">
                  <a:alpha val="100000"/>
                </a:srgbClr>
              </a:gs>
              <a:gs pos="100000">
                <a:srgbClr val="C196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143000" y="8001000"/>
            <a:ext cx="4000500" cy="4000500"/>
          </a:xfrm>
          <a:prstGeom prst="ellipse">
            <a:avLst/>
          </a:prstGeom>
          <a:gradFill rotWithShape="1">
            <a:gsLst>
              <a:gs pos="0">
                <a:srgbClr val="6F8A49">
                  <a:alpha val="100000"/>
                </a:srgbClr>
              </a:gs>
              <a:gs pos="100000">
                <a:srgbClr val="6F8A4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1047750" y="2926891"/>
            <a:ext cx="17811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6F8A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DESAFÍO 04 · SOSTENIBILIDAD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3495972"/>
            <a:ext cx="10552067" cy="221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dirty="0">
                <a:solidFill>
                  <a:srgbClr val="26242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GESTIÓN Y MEDICIÓN DE RESIDUOS RECICLABLES DEL HUB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047750" y="5334000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62421">
                    <a:alpha val="75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Municipalidad de Providencia — Hub Providencia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47750" y="6630479"/>
            <a:ext cx="609451" cy="18976"/>
          </a:xfrm>
          <a:prstGeom prst="rect">
            <a:avLst/>
          </a:prstGeom>
          <a:solidFill>
            <a:srgbClr val="C196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885652" y="6491139"/>
            <a:ext cx="307797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2624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EQUIPO HUBCIRCULAR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7074359"/>
            <a:ext cx="9429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262421">
                    <a:alpha val="85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"Datos precisos que transforman residuos en valor colectivo."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30500" y="571500"/>
            <a:ext cx="2095500" cy="2095500"/>
          </a:xfrm>
          <a:prstGeom prst="rect">
            <a:avLst/>
          </a:prstGeom>
          <a:gradFill rotWithShape="1">
            <a:gsLst>
              <a:gs pos="0">
                <a:srgbClr val="C1963C">
                  <a:alpha val="100000"/>
                </a:srgbClr>
              </a:gs>
              <a:gs pos="100000">
                <a:srgbClr val="C196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1047750" y="857250"/>
            <a:ext cx="17811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6F8A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 PROBLEMA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635807"/>
            <a:ext cx="1362075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6242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CONTEXTO Y PROBLEMÁTICA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47750" y="2902521"/>
            <a:ext cx="35719" cy="1028402"/>
          </a:xfrm>
          <a:prstGeom prst="rect">
            <a:avLst/>
          </a:prstGeom>
          <a:solidFill>
            <a:srgbClr val="C196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426369" y="2902521"/>
            <a:ext cx="14727445" cy="1066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684"/>
              </a:lnSpc>
              <a:buNone/>
            </a:pPr>
            <a:r>
              <a:rPr lang="en-US" sz="3000" i="1" dirty="0">
                <a:solidFill>
                  <a:srgbClr val="26242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"¿Cómo podríamos facilitar la gestión y medición de los residuos reciclables generados en el edificio del Hub Providencia?"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47750" y="4502237"/>
            <a:ext cx="8044815" cy="1894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CL" sz="2000" dirty="0">
                <a:latin typeface="Work Sans" pitchFamily="2" charset="0"/>
              </a:rPr>
              <a:t>El edificio genera periódicamente diversos materiales valorizables, pero no cuenta con un sistema consolidado ni protocolos estandarizados para registrar, medir y analizar cuánto se produce ni cuánto se recupera efectivamente.</a:t>
            </a:r>
            <a:endParaRPr lang="en-US" sz="1950" dirty="0">
              <a:latin typeface="Work Sans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315338" y="4502237"/>
            <a:ext cx="18976" cy="1856631"/>
          </a:xfrm>
          <a:prstGeom prst="rect">
            <a:avLst/>
          </a:prstGeom>
          <a:solidFill>
            <a:srgbClr val="262421">
              <a:alpha val="18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791402" y="4502237"/>
            <a:ext cx="440055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262421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USUARIOS / BENEFICIARIOS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91402" y="4895143"/>
            <a:ext cx="4120515" cy="1152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26242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Equipo de gestión del Hub, laboratorios y personas usuarias del edificio.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A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043BF6-1EAF-4C25-A574-3EF7C5641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39187A-4561-75AD-ED01-A7EE9B2CF95F}"/>
              </a:ext>
            </a:extLst>
          </p:cNvPr>
          <p:cNvSpPr/>
          <p:nvPr/>
        </p:nvSpPr>
        <p:spPr>
          <a:xfrm>
            <a:off x="-1524000" y="-1524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6F8A49">
                  <a:alpha val="100000"/>
                </a:srgbClr>
              </a:gs>
              <a:gs pos="100000">
                <a:srgbClr val="6F8A4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4DBF004-DE74-4E78-0AC7-5ADD2C390168}"/>
              </a:ext>
            </a:extLst>
          </p:cNvPr>
          <p:cNvSpPr/>
          <p:nvPr/>
        </p:nvSpPr>
        <p:spPr>
          <a:xfrm>
            <a:off x="1047750" y="3879949"/>
            <a:ext cx="17811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C196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HUBCIRCULAR</a:t>
            </a:r>
            <a:endParaRPr lang="en-US" sz="19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2AA0532-3F6A-BF14-BA3A-B17BF04C7B01}"/>
              </a:ext>
            </a:extLst>
          </p:cNvPr>
          <p:cNvSpPr/>
          <p:nvPr/>
        </p:nvSpPr>
        <p:spPr>
          <a:xfrm>
            <a:off x="1047750" y="4468006"/>
            <a:ext cx="10301288" cy="1272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dirty="0">
                <a:solidFill>
                  <a:srgbClr val="26242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IMPORTANCIA</a:t>
            </a:r>
            <a:endParaRPr lang="en-US" sz="4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3C30800-523A-8CC6-98A4-3543AD3F7321}"/>
              </a:ext>
            </a:extLst>
          </p:cNvPr>
          <p:cNvSpPr/>
          <p:nvPr/>
        </p:nvSpPr>
        <p:spPr>
          <a:xfrm>
            <a:off x="1047750" y="5451413"/>
            <a:ext cx="14638718" cy="2997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La ausencia de datos genera una ceguera ambiental que </a:t>
            </a:r>
            <a:r>
              <a:rPr lang="es-CL" sz="2400" b="1" dirty="0"/>
              <a:t>impide medir el impacto real</a:t>
            </a:r>
            <a:r>
              <a:rPr lang="es-CL" sz="2400" dirty="0"/>
              <a:t> del edificio.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L" sz="2400" dirty="0"/>
          </a:p>
          <a:p>
            <a:pPr lvl="1"/>
            <a:r>
              <a:rPr lang="es-CL" sz="2400" dirty="0"/>
              <a:t>Esta falta de trazabilidad provoca que </a:t>
            </a:r>
            <a:r>
              <a:rPr lang="es-CL" sz="2400" b="1" dirty="0"/>
              <a:t>materiales con alto potencial terminen descartados como basura </a:t>
            </a:r>
            <a:r>
              <a:rPr lang="es-CL" sz="2400" dirty="0"/>
              <a:t>convencional, desaprovechando oportunidades reales de valorización económica </a:t>
            </a:r>
            <a:r>
              <a:rPr lang="es-CL" sz="2400" b="1" dirty="0"/>
              <a:t>y desincentivando el compromiso ecológico</a:t>
            </a:r>
            <a:r>
              <a:rPr lang="es-CL" sz="2400" dirty="0"/>
              <a:t> de la comunidad al no poder visibilizar los resultados de su esfuerzo.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4860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C196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DE COMPRENSIÓN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45307"/>
            <a:ext cx="1781175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DEAE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MAPA CONCEPTUAL DEL DESAFÍO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597609"/>
            <a:ext cx="16192500" cy="6927391"/>
          </a:xfrm>
          <a:prstGeom prst="roundRect">
            <a:avLst>
              <a:gd name="adj" fmla="val 825"/>
            </a:avLst>
          </a:prstGeom>
          <a:solidFill>
            <a:srgbClr val="EDEAE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5745" b="-15745"/>
          <a:stretch/>
        </p:blipFill>
        <p:spPr>
          <a:xfrm>
            <a:off x="1047750" y="2597609"/>
            <a:ext cx="16192500" cy="69273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6F8A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DE COMPRENSIÓN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45307"/>
            <a:ext cx="1781175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6242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MAPA DE EMPATÍA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2521521"/>
            <a:ext cx="147161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262421">
                    <a:alpha val="85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Investigamos el problema desde la perspectiva del equipo de gestión y operación del Hub: quienes administran el edificio, reportan indicadores a la Municipalidad y coordinan el trabajo diario.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416722"/>
            <a:ext cx="16192500" cy="6108278"/>
          </a:xfrm>
          <a:prstGeom prst="roundRect">
            <a:avLst>
              <a:gd name="adj" fmla="val 9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4369" r="-24369"/>
          <a:stretch/>
        </p:blipFill>
        <p:spPr>
          <a:xfrm>
            <a:off x="1047750" y="3416722"/>
            <a:ext cx="16192500" cy="61082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CF0E7-A7C7-AC0F-B8AF-E1EFBE626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BDBCCF-6343-2DB3-52AE-576E9593AD22}"/>
              </a:ext>
            </a:extLst>
          </p:cNvPr>
          <p:cNvSpPr/>
          <p:nvPr/>
        </p:nvSpPr>
        <p:spPr>
          <a:xfrm>
            <a:off x="15235707" y="7154084"/>
            <a:ext cx="4890752" cy="5008307"/>
          </a:xfrm>
          <a:prstGeom prst="ellipse">
            <a:avLst/>
          </a:prstGeom>
          <a:gradFill rotWithShape="1">
            <a:gsLst>
              <a:gs pos="0">
                <a:srgbClr val="C1963C">
                  <a:alpha val="100000"/>
                </a:srgbClr>
              </a:gs>
              <a:gs pos="100000">
                <a:srgbClr val="C196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EAE568-EF48-37E0-CA7E-14FBF04CE0DD}"/>
              </a:ext>
            </a:extLst>
          </p:cNvPr>
          <p:cNvSpPr/>
          <p:nvPr/>
        </p:nvSpPr>
        <p:spPr>
          <a:xfrm>
            <a:off x="1047750" y="857250"/>
            <a:ext cx="17811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6F8A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VALIDAR</a:t>
            </a:r>
            <a:endParaRPr lang="en-US" sz="19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E25FD1-B43F-237F-1D16-6A8A83E45C46}"/>
              </a:ext>
            </a:extLst>
          </p:cNvPr>
          <p:cNvSpPr/>
          <p:nvPr/>
        </p:nvSpPr>
        <p:spPr>
          <a:xfrm>
            <a:off x="1047750" y="1635807"/>
            <a:ext cx="1781175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6242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LO QUE SABEMOS</a:t>
            </a:r>
            <a:endParaRPr lang="en-US" sz="4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F3987E-7638-98DB-48E0-3BF6FCC789A3}"/>
              </a:ext>
            </a:extLst>
          </p:cNvPr>
          <p:cNvSpPr/>
          <p:nvPr/>
        </p:nvSpPr>
        <p:spPr>
          <a:xfrm>
            <a:off x="2686013" y="3628392"/>
            <a:ext cx="4987454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196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913ADB-1E17-FF08-CD4E-CF30A6C53C39}"/>
              </a:ext>
            </a:extLst>
          </p:cNvPr>
          <p:cNvSpPr/>
          <p:nvPr/>
        </p:nvSpPr>
        <p:spPr>
          <a:xfrm>
            <a:off x="2686013" y="4192636"/>
            <a:ext cx="4987454" cy="344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r>
              <a:rPr lang="es-CL" sz="2400" b="1" dirty="0"/>
              <a:t>Infraestructura exterior vs. interior</a:t>
            </a:r>
            <a:endParaRPr lang="en-US" sz="2100" b="1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75A0329-A76A-5115-915A-A63F1C56328C}"/>
              </a:ext>
            </a:extLst>
          </p:cNvPr>
          <p:cNvSpPr/>
          <p:nvPr/>
        </p:nvSpPr>
        <p:spPr>
          <a:xfrm>
            <a:off x="9618774" y="4718692"/>
            <a:ext cx="3106626" cy="282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CL" dirty="0"/>
              <a:t>No existe una base de datos ni un </a:t>
            </a:r>
            <a:r>
              <a:rPr lang="es-CL" i="1" dirty="0" err="1"/>
              <a:t>dashboard</a:t>
            </a:r>
            <a:r>
              <a:rPr lang="es-CL" dirty="0"/>
              <a:t> centralizado que consolide volúmenes y destinos finales. </a:t>
            </a:r>
            <a:endParaRPr lang="en-US" sz="18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9E6325A0-865E-19D2-80C8-F5DAD0F484B9}"/>
              </a:ext>
            </a:extLst>
          </p:cNvPr>
          <p:cNvSpPr/>
          <p:nvPr/>
        </p:nvSpPr>
        <p:spPr>
          <a:xfrm>
            <a:off x="9617267" y="3628392"/>
            <a:ext cx="4987454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196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4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72E29ECA-1E4E-F79C-B81C-BAD9F2E36C5E}"/>
              </a:ext>
            </a:extLst>
          </p:cNvPr>
          <p:cNvSpPr/>
          <p:nvPr/>
        </p:nvSpPr>
        <p:spPr>
          <a:xfrm>
            <a:off x="9617267" y="4192636"/>
            <a:ext cx="4987454" cy="344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r>
              <a:rPr lang="es-CL" sz="2400" b="1" dirty="0"/>
              <a:t>Dispersión de información</a:t>
            </a:r>
            <a:endParaRPr lang="en-US" sz="2100" b="1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DE3F916F-CABD-4754-5AB1-E1BC4ABD6B5F}"/>
              </a:ext>
            </a:extLst>
          </p:cNvPr>
          <p:cNvSpPr/>
          <p:nvPr/>
        </p:nvSpPr>
        <p:spPr>
          <a:xfrm>
            <a:off x="2686013" y="4668174"/>
            <a:ext cx="4248187" cy="282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CL" dirty="0"/>
              <a:t>Existen contenedores diferenciados en el exterior del Hub (papel/cartón, vidrio y envases livianos), pero al interior predominan basureros convencionales sin puntos limpios claros en los puntos de origen.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83270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5707" y="7154084"/>
            <a:ext cx="4890752" cy="5008307"/>
          </a:xfrm>
          <a:prstGeom prst="ellipse">
            <a:avLst/>
          </a:prstGeom>
          <a:gradFill rotWithShape="1">
            <a:gsLst>
              <a:gs pos="0">
                <a:srgbClr val="C1963C">
                  <a:alpha val="100000"/>
                </a:srgbClr>
              </a:gs>
              <a:gs pos="100000">
                <a:srgbClr val="C1963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1047750" y="857250"/>
            <a:ext cx="17811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6F8A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VALIDAR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635807"/>
            <a:ext cx="1781175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6242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LO QUE NO SABEMOS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397250" y="3132917"/>
            <a:ext cx="3351252" cy="4958779"/>
          </a:xfrm>
          <a:prstGeom prst="roundRect">
            <a:avLst>
              <a:gd name="adj" fmla="val 1095"/>
            </a:avLst>
          </a:prstGeom>
          <a:solidFill>
            <a:srgbClr val="E2DDD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740113" y="3513917"/>
            <a:ext cx="4987454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196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740113" y="4078161"/>
            <a:ext cx="4987454" cy="344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r>
              <a:rPr lang="es-CL" sz="2400" b="1" dirty="0"/>
              <a:t>Flujo y logística interna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740113" y="4556271"/>
            <a:ext cx="2559087" cy="282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CL" dirty="0"/>
              <a:t>¿</a:t>
            </a:r>
            <a:r>
              <a:rPr lang="es-CL" sz="2000" b="1" dirty="0"/>
              <a:t>Cómo se trasladan </a:t>
            </a:r>
            <a:r>
              <a:rPr lang="es-CL" dirty="0"/>
              <a:t>actualmente los residuos desde los laboratorios y </a:t>
            </a:r>
            <a:r>
              <a:rPr lang="es-CL" dirty="0" err="1"/>
              <a:t>cowork</a:t>
            </a:r>
            <a:r>
              <a:rPr lang="es-CL" dirty="0"/>
              <a:t> hacia los contenedores del exterior?</a:t>
            </a:r>
            <a:endParaRPr lang="en-US" sz="18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819ACBBD-099C-7564-3EDA-B3A44C0A190C}"/>
              </a:ext>
            </a:extLst>
          </p:cNvPr>
          <p:cNvSpPr/>
          <p:nvPr/>
        </p:nvSpPr>
        <p:spPr>
          <a:xfrm>
            <a:off x="7394804" y="3132916"/>
            <a:ext cx="3351252" cy="4958779"/>
          </a:xfrm>
          <a:prstGeom prst="roundRect">
            <a:avLst>
              <a:gd name="adj" fmla="val 1095"/>
            </a:avLst>
          </a:prstGeom>
          <a:solidFill>
            <a:srgbClr val="E2DDD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8D7F7784-4417-2060-B421-275346331FD5}"/>
              </a:ext>
            </a:extLst>
          </p:cNvPr>
          <p:cNvSpPr/>
          <p:nvPr/>
        </p:nvSpPr>
        <p:spPr>
          <a:xfrm>
            <a:off x="7737667" y="3513916"/>
            <a:ext cx="4987454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196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4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A604EE17-1F19-A337-4FA0-5C70C3F0EC00}"/>
              </a:ext>
            </a:extLst>
          </p:cNvPr>
          <p:cNvSpPr/>
          <p:nvPr/>
        </p:nvSpPr>
        <p:spPr>
          <a:xfrm>
            <a:off x="7737667" y="4078160"/>
            <a:ext cx="4987454" cy="344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r>
              <a:rPr lang="es-CL" sz="2400" b="1" dirty="0"/>
              <a:t>Generación específica</a:t>
            </a:r>
            <a:endParaRPr lang="en-US" sz="2100" b="1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906F1EC4-861C-1B78-085C-602E5CE0CA8B}"/>
              </a:ext>
            </a:extLst>
          </p:cNvPr>
          <p:cNvSpPr/>
          <p:nvPr/>
        </p:nvSpPr>
        <p:spPr>
          <a:xfrm>
            <a:off x="7737667" y="4556270"/>
            <a:ext cx="2559087" cy="282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CL" dirty="0"/>
              <a:t>¿Cuál es el volumen, peso y </a:t>
            </a:r>
            <a:r>
              <a:rPr lang="es-CL" sz="2000" b="1" dirty="0"/>
              <a:t>tipo de residuo </a:t>
            </a:r>
            <a:r>
              <a:rPr lang="es-CL" dirty="0"/>
              <a:t>particular que aporta cada laboratorio frente a las áreas comunes?</a:t>
            </a:r>
            <a:endParaRPr lang="en-US" sz="1800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5A780783-A640-835E-32D8-075D933E17BC}"/>
              </a:ext>
            </a:extLst>
          </p:cNvPr>
          <p:cNvSpPr/>
          <p:nvPr/>
        </p:nvSpPr>
        <p:spPr>
          <a:xfrm>
            <a:off x="11285919" y="3132916"/>
            <a:ext cx="3351252" cy="4958779"/>
          </a:xfrm>
          <a:prstGeom prst="roundRect">
            <a:avLst>
              <a:gd name="adj" fmla="val 1095"/>
            </a:avLst>
          </a:prstGeom>
          <a:solidFill>
            <a:srgbClr val="E2DDD1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637A6607-E49A-53EB-DD89-AA9C62E837BE}"/>
              </a:ext>
            </a:extLst>
          </p:cNvPr>
          <p:cNvSpPr/>
          <p:nvPr/>
        </p:nvSpPr>
        <p:spPr>
          <a:xfrm>
            <a:off x="11735221" y="3513916"/>
            <a:ext cx="4987454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196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4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917AE16D-D925-D1C3-A6FE-938295469A52}"/>
              </a:ext>
            </a:extLst>
          </p:cNvPr>
          <p:cNvSpPr/>
          <p:nvPr/>
        </p:nvSpPr>
        <p:spPr>
          <a:xfrm>
            <a:off x="11735221" y="4078160"/>
            <a:ext cx="29019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r>
              <a:rPr lang="es-CL" sz="2400" b="1" dirty="0"/>
              <a:t>Capacidad y rutinas operativas</a:t>
            </a:r>
            <a:endParaRPr lang="en-US" sz="2100" b="1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583AF2B7-0302-DCAD-C21D-BEE7CFACEBF7}"/>
              </a:ext>
            </a:extLst>
          </p:cNvPr>
          <p:cNvSpPr/>
          <p:nvPr/>
        </p:nvSpPr>
        <p:spPr>
          <a:xfrm>
            <a:off x="11735221" y="4842020"/>
            <a:ext cx="2559087" cy="282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CL" dirty="0"/>
              <a:t>¿</a:t>
            </a:r>
            <a:r>
              <a:rPr lang="es-CL" sz="2000" b="1" dirty="0"/>
              <a:t>Qué tiempos </a:t>
            </a:r>
            <a:r>
              <a:rPr lang="es-CL" dirty="0"/>
              <a:t>y procedimientos específicos tiene asignados el personal de aseo para incorporar una rutina de pesaje sin sobrecargarse?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-1524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6F8A49">
                  <a:alpha val="100000"/>
                </a:srgbClr>
              </a:gs>
              <a:gs pos="100000">
                <a:srgbClr val="6F8A4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1047750" y="3879949"/>
            <a:ext cx="17811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C196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HUBCIRCULAR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50" y="4468006"/>
            <a:ext cx="10301288" cy="1272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500" dirty="0">
                <a:solidFill>
                  <a:srgbClr val="26242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"DATOS PRECISOS QUE TRANSFORMAN RESIDUOS EN VALOR COLECTIVO."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1047750" y="6121115"/>
            <a:ext cx="9429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421">
                    <a:alpha val="75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Gracias — Municipalidad de Providencia / Hub Providencia</a:t>
            </a:r>
            <a:endParaRPr lang="en-US" sz="195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FD8155DA-DD9A-42F5-EB00-3BCE7344C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02" b="4902"/>
          <a:stretch/>
        </p:blipFill>
        <p:spPr>
          <a:xfrm>
            <a:off x="11849672" y="5740263"/>
            <a:ext cx="5776944" cy="390793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534</Words>
  <Application>Microsoft Office PowerPoint</Application>
  <PresentationFormat>Personalizado</PresentationFormat>
  <Paragraphs>59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Anton</vt:lpstr>
      <vt:lpstr>Arial</vt:lpstr>
      <vt:lpstr>IBM Plex Mono</vt:lpstr>
      <vt:lpstr>Work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Carlos Concha</cp:lastModifiedBy>
  <cp:revision>6</cp:revision>
  <dcterms:created xsi:type="dcterms:W3CDTF">2026-09-09T21:18:09Z</dcterms:created>
  <dcterms:modified xsi:type="dcterms:W3CDTF">2026-09-10T18:30:06Z</dcterms:modified>
</cp:coreProperties>
</file>